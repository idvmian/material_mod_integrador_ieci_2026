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7" r:id="rId5"/>
    <p:sldId id="263" r:id="rId6"/>
    <p:sldId id="318" r:id="rId7"/>
    <p:sldId id="313" r:id="rId8"/>
    <p:sldId id="315" r:id="rId9"/>
    <p:sldId id="316" r:id="rId10"/>
    <p:sldId id="317" r:id="rId11"/>
    <p:sldId id="331" r:id="rId12"/>
    <p:sldId id="295" r:id="rId13"/>
    <p:sldId id="296" r:id="rId14"/>
    <p:sldId id="332" r:id="rId15"/>
    <p:sldId id="319" r:id="rId16"/>
    <p:sldId id="266" r:id="rId17"/>
    <p:sldId id="320" r:id="rId18"/>
    <p:sldId id="322" r:id="rId19"/>
    <p:sldId id="324" r:id="rId20"/>
    <p:sldId id="328" r:id="rId21"/>
    <p:sldId id="329" r:id="rId22"/>
    <p:sldId id="330" r:id="rId23"/>
    <p:sldId id="269" r:id="rId24"/>
    <p:sldId id="323" r:id="rId25"/>
    <p:sldId id="333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  <a:srgbClr val="009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0" autoAdjust="0"/>
    <p:restoredTop sz="88369" autoAdjust="0"/>
  </p:normalViewPr>
  <p:slideViewPr>
    <p:cSldViewPr snapToGrid="0">
      <p:cViewPr varScale="1">
        <p:scale>
          <a:sx n="101" d="100"/>
          <a:sy n="101" d="100"/>
        </p:scale>
        <p:origin x="2922" y="11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1A004-D363-4597-86D7-BBBA5077B5B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40829-97A1-4B81-A0D7-9ACE799D03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9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39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2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11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0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C8BA-2BEA-5F2D-1CCA-B63DB689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3E6969-83DF-35E8-D741-D996BE55B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B9901D-BD33-B80E-0277-748075A43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una plataforma basada en la nube que utiliza el sistema de control de versiones Git para alojar proyectos de software, permitiendo a los usuarios a compartir y colaborar en código.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87705" algn="l"/>
              </a:tabLst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editor de código desarrollado por Microsoft, conocido por su flexibilidad y amplia gama de extensiones, lo que lo convierte en una herramienta útil para desarrolladores de diversos lenguajes.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D3017F-4281-7DE6-33E4-950037F1D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39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C8BA-2BEA-5F2D-1CCA-B63DB689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3E6969-83DF-35E8-D741-D996BE55B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B9901D-BD33-B80E-0277-748075A43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una plataforma basada en la nube que utiliza el sistema de control de versiones Git para alojar proyectos de software, permitiendo a los usuarios a compartir y colaborar en código.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87705" algn="l"/>
              </a:tabLst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editor de código desarrollado por Microsoft, conocido por su flexibilidad y amplia gama de extensiones, lo que lo convierte en una herramienta útil para desarrolladores de diversos lenguajes.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D3017F-4281-7DE6-33E4-950037F1D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1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4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06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391C-2BFE-B756-F020-9B79B03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71D4F3-68DE-D1F3-4184-1C504ECE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730D9-B2D8-4546-885D-8021D583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desarrollo del proyecto se utilizó lo siguiente: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es una librería de JavaScript para crear interfaces de usuario, caracterizada por su flexibilidad y alto rendimiento. Permite crear vistas dinámicas y componentes reutilizables, además de permitir al usuario visualizar su desarrollo en tiempo real.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MySQL es un sistema de gestión de base de datos relacional, el cual permite almacenar, organizar y recuperar datos. Es reconocido por su fiabilidad, su alto rendimiento y su escalabilidad.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un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alto rendimiento basado en Python, el cual se usa para construir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 caracteriza por su facilidad de uso y su velocidad. Destaca por generar documentación interactiva de la API automáticamente, además de validación de datos, serialización y deserialización.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94900-15AA-BAF0-71F1-3511B813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50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asocia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Proyecto al </a:t>
            </a:r>
            <a:r>
              <a:rPr lang="en-US" dirty="0" err="1"/>
              <a:t>perfil</a:t>
            </a:r>
            <a:endParaRPr lang="en-US" dirty="0"/>
          </a:p>
          <a:p>
            <a:r>
              <a:rPr lang="en-US" dirty="0" err="1"/>
              <a:t>Perfil</a:t>
            </a:r>
            <a:r>
              <a:rPr lang="en-US" dirty="0"/>
              <a:t> de </a:t>
            </a:r>
            <a:r>
              <a:rPr lang="en-US" dirty="0" err="1"/>
              <a:t>egreso</a:t>
            </a:r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89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asocia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Proyecto al </a:t>
            </a:r>
            <a:r>
              <a:rPr lang="en-US" dirty="0" err="1"/>
              <a:t>perfil</a:t>
            </a:r>
            <a:endParaRPr lang="en-US" dirty="0"/>
          </a:p>
          <a:p>
            <a:r>
              <a:rPr lang="en-US" dirty="0" err="1"/>
              <a:t>Perfil</a:t>
            </a:r>
            <a:r>
              <a:rPr lang="en-US" dirty="0"/>
              <a:t> de </a:t>
            </a:r>
            <a:r>
              <a:rPr lang="en-US" dirty="0" err="1"/>
              <a:t>egreso</a:t>
            </a:r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5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40829-97A1-4B81-A0D7-9ACE799D03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31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20DC164-1E76-4AA9-92B6-95016AAAB8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1000"/>
          </a:blip>
          <a:srcRect r="24109"/>
          <a:stretch/>
        </p:blipFill>
        <p:spPr>
          <a:xfrm>
            <a:off x="4388302" y="0"/>
            <a:ext cx="7803698" cy="685799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987E69F-BEC1-4D3B-ABCE-6E33DA86CF0A}"/>
              </a:ext>
            </a:extLst>
          </p:cNvPr>
          <p:cNvSpPr/>
          <p:nvPr userDrawn="1"/>
        </p:nvSpPr>
        <p:spPr>
          <a:xfrm>
            <a:off x="0" y="0"/>
            <a:ext cx="12192000" cy="686955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  <a:lumMod val="86033"/>
                </a:schemeClr>
              </a:gs>
              <a:gs pos="51000">
                <a:srgbClr val="0070C0">
                  <a:lumMod val="73909"/>
                </a:srgbClr>
              </a:gs>
              <a:gs pos="100000">
                <a:srgbClr val="0070C0">
                  <a:alpha val="18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1A6CDDC-D3C5-4907-98A6-BBD45EF64D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8215" y="962582"/>
            <a:ext cx="2215776" cy="71337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684121B-1F44-46FF-8C51-8A3C8204F531}"/>
              </a:ext>
            </a:extLst>
          </p:cNvPr>
          <p:cNvSpPr txBox="1"/>
          <p:nvPr userDrawn="1"/>
        </p:nvSpPr>
        <p:spPr>
          <a:xfrm>
            <a:off x="10093124" y="-381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A801EA-43AB-4371-B476-E27F07D176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9000"/>
          </a:blip>
          <a:stretch>
            <a:fillRect/>
          </a:stretch>
        </p:blipFill>
        <p:spPr>
          <a:xfrm rot="16200000">
            <a:off x="7662138" y="2341536"/>
            <a:ext cx="6775384" cy="2181344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E0C5CF7-F52F-4721-BA62-779540708FCF}"/>
              </a:ext>
            </a:extLst>
          </p:cNvPr>
          <p:cNvSpPr/>
          <p:nvPr userDrawn="1"/>
        </p:nvSpPr>
        <p:spPr>
          <a:xfrm>
            <a:off x="6429308" y="1744661"/>
            <a:ext cx="478168" cy="2772431"/>
          </a:xfrm>
          <a:prstGeom prst="rect">
            <a:avLst/>
          </a:prstGeom>
          <a:solidFill>
            <a:srgbClr val="00B0F0">
              <a:alpha val="32067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C0B4F8-BCBE-4AA3-BCFA-75DCAEF8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F262D-EEC2-40F0-84A8-AF89D1E6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2726014-F5CD-4C51-986D-3F7268638C5A}"/>
              </a:ext>
            </a:extLst>
          </p:cNvPr>
          <p:cNvSpPr/>
          <p:nvPr userDrawn="1"/>
        </p:nvSpPr>
        <p:spPr>
          <a:xfrm>
            <a:off x="468214" y="3803720"/>
            <a:ext cx="5896799" cy="71337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2E620F-E59A-4492-9CFD-3ACB47AB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B225D987-CC97-4449-AF7C-03F771285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215" y="1744661"/>
            <a:ext cx="5896800" cy="1978861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Calibri (cuerpo)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6EED1729-5009-4F82-A6EF-53AF97071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215" y="3803719"/>
            <a:ext cx="5896798" cy="71337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245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EE7B1D2-D348-4835-9574-9275A5D57E2A}"/>
              </a:ext>
            </a:extLst>
          </p:cNvPr>
          <p:cNvSpPr/>
          <p:nvPr userDrawn="1"/>
        </p:nvSpPr>
        <p:spPr>
          <a:xfrm>
            <a:off x="0" y="0"/>
            <a:ext cx="12192000" cy="686955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  <a:lumMod val="86033"/>
                </a:schemeClr>
              </a:gs>
              <a:gs pos="100000">
                <a:srgbClr val="005F9C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41A550-2DDE-468B-8C96-D0EA15E7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35" y="238125"/>
            <a:ext cx="10382465" cy="103936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Calibri (cuerpo)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45BF73-517D-4638-A400-CB290221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 algn="just"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 algn="just"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 algn="just"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 algn="just"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B51A81-0E67-40E8-B34C-F95772DE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957107-36F4-489C-8211-0A026D82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ECEB7-8930-4486-B91F-CDCEE9D9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4462E8E-A56C-4C30-9A82-D6FD5C8BDFD9}"/>
              </a:ext>
            </a:extLst>
          </p:cNvPr>
          <p:cNvSpPr/>
          <p:nvPr userDrawn="1"/>
        </p:nvSpPr>
        <p:spPr>
          <a:xfrm>
            <a:off x="0" y="619760"/>
            <a:ext cx="731535" cy="25400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690B5E-C21B-42C9-82BB-51801BF72186}"/>
              </a:ext>
            </a:extLst>
          </p:cNvPr>
          <p:cNvSpPr/>
          <p:nvPr userDrawn="1"/>
        </p:nvSpPr>
        <p:spPr>
          <a:xfrm>
            <a:off x="748276" y="619760"/>
            <a:ext cx="206318" cy="254000"/>
          </a:xfrm>
          <a:prstGeom prst="rect">
            <a:avLst/>
          </a:prstGeom>
          <a:solidFill>
            <a:srgbClr val="00B0F0">
              <a:alpha val="32067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239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1DE83-0D34-4E9A-BA47-92E78F42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AC0F01-51AA-4ED8-9FF2-8F036B9F0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8D411-1305-4933-923C-76FAC448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6713A4-0963-4DC9-B1C6-C49F33B1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39F9BB-60A5-4285-B43C-AA478104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909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A85D1-25DF-4426-873F-0A814784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485AC5-F106-4A37-A609-064A149DD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4C415D-3A2C-43DB-B252-9B05AB5AF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A081D3-62FD-430D-8A41-15DC8756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2908FD-7F41-438A-8589-17734BED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423BE2-BBDA-476F-ACB3-F46CB483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219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8AB2A-28B3-4DF8-9745-0BF135D7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EAF976-A483-4C8B-8981-82B0D688A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775390-6E36-406B-96D7-9D86E5ECE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DE6AE0-7FC2-49DA-981B-A7769E645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6F1503-A523-4593-8626-05FB9B811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274A08-4884-42CF-86B4-3F85E9FC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A1D885-51CC-4E08-BEB1-0CDC1B92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A63803-09D0-4B24-B8B5-112C7849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5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82617-C8D6-4288-B0A3-274D705E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E6257FF-C5B2-453B-BF67-DBDB0E78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4046DF-DA63-4637-B8A7-C3F00434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44E7D5-475C-491A-A713-E5DE0EF0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965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44220E-417B-417C-B81C-D96FD0E4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AB8337-CE22-41F9-A890-CBBBDB4C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37169-EF2C-4B74-9978-F43EA405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D2E14BE-6E67-4924-91C4-73925B1DA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1000"/>
          </a:blip>
          <a:srcRect r="24109"/>
          <a:stretch/>
        </p:blipFill>
        <p:spPr>
          <a:xfrm>
            <a:off x="4388302" y="0"/>
            <a:ext cx="7803698" cy="6857999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B6C4EBA5-13E6-4078-B060-888C8FBB4EDC}"/>
              </a:ext>
            </a:extLst>
          </p:cNvPr>
          <p:cNvSpPr/>
          <p:nvPr userDrawn="1"/>
        </p:nvSpPr>
        <p:spPr>
          <a:xfrm>
            <a:off x="0" y="0"/>
            <a:ext cx="12192000" cy="686955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  <a:lumMod val="86033"/>
                </a:schemeClr>
              </a:gs>
              <a:gs pos="51000">
                <a:srgbClr val="0070C0">
                  <a:lumMod val="73909"/>
                </a:srgbClr>
              </a:gs>
              <a:gs pos="100000">
                <a:srgbClr val="0070C0">
                  <a:alpha val="18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6F1E8A7-C41E-4C0C-864B-8B9B80ABE5CE}"/>
              </a:ext>
            </a:extLst>
          </p:cNvPr>
          <p:cNvSpPr/>
          <p:nvPr userDrawn="1"/>
        </p:nvSpPr>
        <p:spPr>
          <a:xfrm>
            <a:off x="259880" y="2852531"/>
            <a:ext cx="5329776" cy="71788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2DB1463-F7B7-4457-B47C-2E7348A8A447}"/>
              </a:ext>
            </a:extLst>
          </p:cNvPr>
          <p:cNvSpPr/>
          <p:nvPr userDrawn="1"/>
        </p:nvSpPr>
        <p:spPr>
          <a:xfrm>
            <a:off x="5619473" y="2852531"/>
            <a:ext cx="714426" cy="717880"/>
          </a:xfrm>
          <a:prstGeom prst="rect">
            <a:avLst/>
          </a:prstGeom>
          <a:solidFill>
            <a:srgbClr val="00B0F0">
              <a:alpha val="32067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Subtítulo 2">
            <a:extLst>
              <a:ext uri="{FF2B5EF4-FFF2-40B4-BE49-F238E27FC236}">
                <a16:creationId xmlns:a16="http://schemas.microsoft.com/office/drawing/2014/main" id="{CDA6E1C6-115D-497A-B52C-ED9E91FF7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880" y="2862819"/>
            <a:ext cx="5329776" cy="71337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296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839AC-10BB-47E9-9C82-D9538A54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3095C1-1DCF-41DC-9738-1143FCF3D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D97206-44DE-4838-AA15-83DEE2F11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012CC-F021-4D82-8986-3AFEE92F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0CE6C4-CDD8-42B9-A06A-A4AFBA40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EA6698-2BD5-4757-A8D2-B1E67B7F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26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564A5-1EED-40D9-92B9-C7E58A86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A23DDC-29C3-4A9B-8C60-833FEA739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4AEBE3-C12A-467E-A3AE-19D14E911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DD9B73-BEE9-49C1-AD63-9850C94A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450611-2561-4AA0-815C-3A4A3B4F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3FA866-4D25-424C-B054-4205669A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620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66F99-D4F9-4831-86E1-63B00764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AE4F65-6FAC-423E-8DAF-5136B8C10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6893FA-AAC4-490D-A8C6-DBB6666B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FDBF5-C71F-4AEF-BB73-EB212122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217079-DCC6-4704-A4C9-96649B16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502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CB153D-4371-4081-9B3B-4CA3C05A1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3084CB-588C-4DA8-B182-1AB25A546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F0C64-DA02-4C31-B37A-45AA91F6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5A48BB-135F-4756-B8F1-2CDBDF0D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86E167-4980-49F1-B58E-E99097A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85C765-311C-4F94-BBF7-1ADF3CF4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640B1E-C3B5-4DC4-8286-0B8FFBC05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F8CA3B-CE0F-4441-8962-E038ADC2F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54E45-B622-4B58-9E4E-19444FFCC147}" type="datetimeFigureOut">
              <a:rPr lang="es-CL" smtClean="0"/>
              <a:t>14-10-2025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1489F-3096-4B28-BEDA-8D2B4F3C9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0A0C5D-2B12-4F63-BC94-B5229547C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D87F0-2105-4934-ABE8-C557374126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510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5EC1E6E-563C-4D8F-A66C-1B55835D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215" y="1824858"/>
            <a:ext cx="5896800" cy="1978861"/>
          </a:xfrm>
        </p:spPr>
        <p:txBody>
          <a:bodyPr/>
          <a:lstStyle/>
          <a:p>
            <a:r>
              <a:rPr lang="es-ES_tradnl" sz="2800" dirty="0"/>
              <a:t>TITULO DE LA TESIS….</a:t>
            </a:r>
            <a:endParaRPr lang="es-CL" sz="2800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7EE6AF9-8874-49FE-9033-B78C55C66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215" y="3856390"/>
            <a:ext cx="5896798" cy="713372"/>
          </a:xfrm>
        </p:spPr>
        <p:txBody>
          <a:bodyPr>
            <a:normAutofit/>
          </a:bodyPr>
          <a:lstStyle/>
          <a:p>
            <a:r>
              <a:rPr lang="es-CL" sz="1800" b="0" dirty="0"/>
              <a:t>Alumno: Alex…. ………………….</a:t>
            </a:r>
          </a:p>
          <a:p>
            <a:r>
              <a:rPr lang="es-CL" sz="1800" b="0" dirty="0"/>
              <a:t>Profesor guía: Marco Toranzo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1189D1-454A-C570-662B-ED940BED326A}"/>
              </a:ext>
            </a:extLst>
          </p:cNvPr>
          <p:cNvSpPr/>
          <p:nvPr/>
        </p:nvSpPr>
        <p:spPr>
          <a:xfrm>
            <a:off x="468215" y="4722082"/>
            <a:ext cx="5896798" cy="829631"/>
          </a:xfrm>
          <a:prstGeom prst="rect">
            <a:avLst/>
          </a:prstGeom>
          <a:solidFill>
            <a:srgbClr val="009F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1600" dirty="0">
                <a:solidFill>
                  <a:schemeClr val="bg1"/>
                </a:solidFill>
                <a:ea typeface="Book Antiqua" panose="02040602050305030304" pitchFamily="18" charset="0"/>
                <a:cs typeface="Book Antiqua" panose="02040602050305030304" pitchFamily="18" charset="0"/>
              </a:rPr>
              <a:t>Proyecto de titulo para optar al Titulo Profesional de Ingeniero Ejecución en Computación e Informática</a:t>
            </a:r>
            <a:endParaRPr lang="es-CL" sz="1600" dirty="0">
              <a:solidFill>
                <a:schemeClr val="bg1"/>
              </a:solidFill>
              <a:effectLst/>
              <a:ea typeface="Book Antiqua" panose="02040602050305030304" pitchFamily="18" charset="0"/>
              <a:cs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7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012C5-4A61-F5DF-9758-20BE523A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FF2C99-25A3-8A07-D9BF-219F07AE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7" y="1455173"/>
            <a:ext cx="10113056" cy="495467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dirty="0"/>
              <a:t>Introducción y Objetivos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Marco Teórico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Metodología y Propuesta de Solución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Desarrollo de la Propuesta y Resultados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Conclusiones y Trabajos Futuros</a:t>
            </a:r>
          </a:p>
          <a:p>
            <a:pPr marL="457200" indent="-457200">
              <a:buFont typeface="+mj-lt"/>
              <a:buAutoNum type="arabicPeriod"/>
            </a:pPr>
            <a:endParaRPr lang="es-CL" sz="2000" dirty="0"/>
          </a:p>
          <a:p>
            <a:pPr marL="457200" indent="-457200">
              <a:buFont typeface="+mj-lt"/>
              <a:buAutoNum type="arabicPeriod"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58941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411" y="2314575"/>
            <a:ext cx="5334214" cy="1039367"/>
          </a:xfrm>
        </p:spPr>
        <p:txBody>
          <a:bodyPr>
            <a:normAutofit/>
          </a:bodyPr>
          <a:lstStyle/>
          <a:p>
            <a:r>
              <a:rPr lang="es-CL" sz="6000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2334333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935C-9B3C-4E73-AE74-BCF1232E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09D677-8229-4EAA-8FD0-67E19D61B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s-CL" dirty="0"/>
              <a:t>Descripción de la empresa</a:t>
            </a:r>
          </a:p>
        </p:txBody>
      </p:sp>
    </p:spTree>
    <p:extLst>
      <p:ext uri="{BB962C8B-B14F-4D97-AF65-F5344CB8AC3E}">
        <p14:creationId xmlns:p14="http://schemas.microsoft.com/office/powerpoint/2010/main" val="58567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935C-9B3C-4E73-AE74-BCF1232E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09D677-8229-4EAA-8FD0-67E19D61B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492"/>
            <a:ext cx="10515600" cy="4351338"/>
          </a:xfrm>
        </p:spPr>
        <p:txBody>
          <a:bodyPr/>
          <a:lstStyle/>
          <a:p>
            <a:r>
              <a:rPr lang="es-CL" dirty="0"/>
              <a:t>Problema</a:t>
            </a:r>
          </a:p>
        </p:txBody>
      </p:sp>
    </p:spTree>
    <p:extLst>
      <p:ext uri="{BB962C8B-B14F-4D97-AF65-F5344CB8AC3E}">
        <p14:creationId xmlns:p14="http://schemas.microsoft.com/office/powerpoint/2010/main" val="125452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935C-9B3C-4E73-AE74-BCF1232E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09D677-8229-4EAA-8FD0-67E19D61B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492"/>
            <a:ext cx="10515600" cy="4351338"/>
          </a:xfrm>
        </p:spPr>
        <p:txBody>
          <a:bodyPr/>
          <a:lstStyle/>
          <a:p>
            <a:r>
              <a:rPr lang="es-CL" dirty="0"/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300760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935C-9B3C-4E73-AE74-BCF1232E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09D677-8229-4EAA-8FD0-67E19D61B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492"/>
            <a:ext cx="10515600" cy="4351338"/>
          </a:xfrm>
        </p:spPr>
        <p:txBody>
          <a:bodyPr/>
          <a:lstStyle/>
          <a:p>
            <a:r>
              <a:rPr lang="es-CL" dirty="0"/>
              <a:t>Alcance</a:t>
            </a:r>
          </a:p>
        </p:txBody>
      </p:sp>
    </p:spTree>
    <p:extLst>
      <p:ext uri="{BB962C8B-B14F-4D97-AF65-F5344CB8AC3E}">
        <p14:creationId xmlns:p14="http://schemas.microsoft.com/office/powerpoint/2010/main" val="61302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436" y="2505075"/>
            <a:ext cx="5334214" cy="1039367"/>
          </a:xfrm>
        </p:spPr>
        <p:txBody>
          <a:bodyPr>
            <a:normAutofit/>
          </a:bodyPr>
          <a:lstStyle/>
          <a:p>
            <a:r>
              <a:rPr lang="es-CL" sz="6000" dirty="0"/>
              <a:t>Marco Teórico</a:t>
            </a:r>
          </a:p>
        </p:txBody>
      </p:sp>
    </p:spTree>
    <p:extLst>
      <p:ext uri="{BB962C8B-B14F-4D97-AF65-F5344CB8AC3E}">
        <p14:creationId xmlns:p14="http://schemas.microsoft.com/office/powerpoint/2010/main" val="98622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Marco Teórico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A564C7F-5844-3658-36BC-123008915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7" t="5987" r="24262" b="6803"/>
          <a:stretch>
            <a:fillRect/>
          </a:stretch>
        </p:blipFill>
        <p:spPr bwMode="auto">
          <a:xfrm>
            <a:off x="7852140" y="3982525"/>
            <a:ext cx="1946339" cy="19493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EDE63BE0-72B9-8E0C-47E8-617E4E9B5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1" r="21817"/>
          <a:stretch>
            <a:fillRect/>
          </a:stretch>
        </p:blipFill>
        <p:spPr bwMode="auto">
          <a:xfrm>
            <a:off x="2916455" y="2769973"/>
            <a:ext cx="1992004" cy="2012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8E84D4B-6F07-D28D-ED36-542028CF0E4A}"/>
              </a:ext>
            </a:extLst>
          </p:cNvPr>
          <p:cNvSpPr/>
          <p:nvPr/>
        </p:nvSpPr>
        <p:spPr>
          <a:xfrm>
            <a:off x="6853579" y="1277490"/>
            <a:ext cx="3335918" cy="499789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ED2E11A-A2F7-7D77-A69B-F4DA963AD2AE}"/>
              </a:ext>
            </a:extLst>
          </p:cNvPr>
          <p:cNvSpPr/>
          <p:nvPr/>
        </p:nvSpPr>
        <p:spPr>
          <a:xfrm>
            <a:off x="2244498" y="1277490"/>
            <a:ext cx="3335918" cy="499789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72C961E2-105D-E206-2F87-C1214A42A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8" r="40082"/>
          <a:stretch>
            <a:fillRect/>
          </a:stretch>
        </p:blipFill>
        <p:spPr bwMode="auto">
          <a:xfrm>
            <a:off x="7179337" y="1689666"/>
            <a:ext cx="1981034" cy="19493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8232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14755-CD8B-A241-3EC1-06BDD143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65DCE-9EA1-83F1-7685-94B596CF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Marco Teórico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F46C72-90AD-A499-743C-2A2DA6719DAD}"/>
              </a:ext>
            </a:extLst>
          </p:cNvPr>
          <p:cNvGrpSpPr/>
          <p:nvPr/>
        </p:nvGrpSpPr>
        <p:grpSpPr>
          <a:xfrm>
            <a:off x="2002503" y="1277490"/>
            <a:ext cx="3335918" cy="4997895"/>
            <a:chOff x="6853579" y="1277490"/>
            <a:chExt cx="3335918" cy="4997895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73F9B803-2796-0486-6E41-1BED0C46E787}"/>
                </a:ext>
              </a:extLst>
            </p:cNvPr>
            <p:cNvSpPr/>
            <p:nvPr/>
          </p:nvSpPr>
          <p:spPr>
            <a:xfrm>
              <a:off x="6853579" y="1277490"/>
              <a:ext cx="3335918" cy="4997895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noFill/>
              </a:endParaRPr>
            </a:p>
          </p:txBody>
        </p:sp>
        <p:pic>
          <p:nvPicPr>
            <p:cNvPr id="17" name="Picture 16" descr="Cómo instalar Visual Studio Code en Linux - ochobitshacenunbyte">
              <a:extLst>
                <a:ext uri="{FF2B5EF4-FFF2-40B4-BE49-F238E27FC236}">
                  <a16:creationId xmlns:a16="http://schemas.microsoft.com/office/drawing/2014/main" id="{A4CC7B82-9932-04D3-3C3D-9373D88700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98" t="2945" r="16408" b="897"/>
            <a:stretch>
              <a:fillRect/>
            </a:stretch>
          </p:blipFill>
          <p:spPr bwMode="auto">
            <a:xfrm>
              <a:off x="7852139" y="4102179"/>
              <a:ext cx="2039591" cy="167504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4" descr="logotipo de github, icono de git hub con texto sobre fondo blanco y negro  17119660 Vector en Vecteezy">
              <a:extLst>
                <a:ext uri="{FF2B5EF4-FFF2-40B4-BE49-F238E27FC236}">
                  <a16:creationId xmlns:a16="http://schemas.microsoft.com/office/drawing/2014/main" id="{8A701BA9-6E3A-ED97-504C-BBE262325B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188962" y="1716666"/>
              <a:ext cx="1946339" cy="194633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50CF23D-D6DC-4986-FBC0-9ED2CD022404}"/>
              </a:ext>
            </a:extLst>
          </p:cNvPr>
          <p:cNvGrpSpPr/>
          <p:nvPr/>
        </p:nvGrpSpPr>
        <p:grpSpPr>
          <a:xfrm>
            <a:off x="6853579" y="1277490"/>
            <a:ext cx="3335918" cy="4997895"/>
            <a:chOff x="2244498" y="1277490"/>
            <a:chExt cx="3335918" cy="4997895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8DD0D11C-027A-24A3-B240-0BDFEC6D11AC}"/>
                </a:ext>
              </a:extLst>
            </p:cNvPr>
            <p:cNvSpPr/>
            <p:nvPr/>
          </p:nvSpPr>
          <p:spPr>
            <a:xfrm>
              <a:off x="2244498" y="1277490"/>
              <a:ext cx="3335918" cy="4997895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noFill/>
              </a:endParaRPr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D4544727-72EE-8189-2EBF-84114A2DC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4471" y="1632088"/>
              <a:ext cx="2115495" cy="2115495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4C0F7588-2ADE-D52B-13AF-D4795B167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572" t="10690" r="19572" b="10690"/>
            <a:stretch>
              <a:fillRect/>
            </a:stretch>
          </p:blipFill>
          <p:spPr>
            <a:xfrm>
              <a:off x="3301282" y="4200533"/>
              <a:ext cx="2035345" cy="1478331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84974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14755-CD8B-A241-3EC1-06BDD143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65DCE-9EA1-83F1-7685-94B596CF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Marco Teórico</a:t>
            </a:r>
          </a:p>
        </p:txBody>
      </p:sp>
    </p:spTree>
    <p:extLst>
      <p:ext uri="{BB962C8B-B14F-4D97-AF65-F5344CB8AC3E}">
        <p14:creationId xmlns:p14="http://schemas.microsoft.com/office/powerpoint/2010/main" val="60867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025" y="2314575"/>
            <a:ext cx="8020050" cy="1039367"/>
          </a:xfrm>
        </p:spPr>
        <p:txBody>
          <a:bodyPr>
            <a:noAutofit/>
          </a:bodyPr>
          <a:lstStyle/>
          <a:p>
            <a:pPr algn="ctr"/>
            <a:r>
              <a:rPr lang="es-ES_tradnl" sz="5400" dirty="0">
                <a:effectLst/>
                <a:latin typeface="+mj-lt"/>
                <a:ea typeface="Calibri" panose="020F0502020204030204" pitchFamily="34" charset="0"/>
              </a:rPr>
              <a:t>Metodología y Propuesta de Solución</a:t>
            </a:r>
            <a:endParaRPr lang="es-CL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747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C5B31-FD93-0C50-6EB4-2266EEFA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effectLst/>
                <a:latin typeface="+mj-lt"/>
                <a:ea typeface="Calibri" panose="020F0502020204030204" pitchFamily="34" charset="0"/>
              </a:rPr>
              <a:t>Metodología y Propuesta de Solución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C6DE97-196E-1610-7806-13C8EC121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151"/>
            <a:ext cx="10515600" cy="690518"/>
          </a:xfrm>
        </p:spPr>
        <p:txBody>
          <a:bodyPr/>
          <a:lstStyle/>
          <a:p>
            <a:r>
              <a:rPr lang="es-CL" dirty="0"/>
              <a:t>Metodología propuesta</a:t>
            </a:r>
          </a:p>
        </p:txBody>
      </p:sp>
      <p:pic>
        <p:nvPicPr>
          <p:cNvPr id="7" name="Picture 6" descr="Los 5 eventos en Scrum claves para el desarrollo de producto">
            <a:extLst>
              <a:ext uri="{FF2B5EF4-FFF2-40B4-BE49-F238E27FC236}">
                <a16:creationId xmlns:a16="http://schemas.microsoft.com/office/drawing/2014/main" id="{DE17F6AF-7A32-23DB-6E86-AA9CC9FCD1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4" t="3852" r="55274" b="64710"/>
          <a:stretch>
            <a:fillRect/>
          </a:stretch>
        </p:blipFill>
        <p:spPr bwMode="auto">
          <a:xfrm>
            <a:off x="9342301" y="3215609"/>
            <a:ext cx="2512946" cy="1858933"/>
          </a:xfrm>
          <a:prstGeom prst="roundRect">
            <a:avLst>
              <a:gd name="adj" fmla="val 2937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724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C5B31-FD93-0C50-6EB4-2266EEFA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effectLst/>
                <a:latin typeface="+mj-lt"/>
                <a:ea typeface="Calibri" panose="020F0502020204030204" pitchFamily="34" charset="0"/>
              </a:rPr>
              <a:t>Metodología y Propuesta de Solución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C6DE97-196E-1610-7806-13C8EC121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151"/>
            <a:ext cx="10515600" cy="690518"/>
          </a:xfrm>
        </p:spPr>
        <p:txBody>
          <a:bodyPr/>
          <a:lstStyle/>
          <a:p>
            <a:r>
              <a:rPr lang="es-CL" dirty="0"/>
              <a:t>Metodología aplicada</a:t>
            </a:r>
          </a:p>
        </p:txBody>
      </p:sp>
      <p:pic>
        <p:nvPicPr>
          <p:cNvPr id="7" name="Picture 6" descr="Los 5 eventos en Scrum claves para el desarrollo de producto">
            <a:extLst>
              <a:ext uri="{FF2B5EF4-FFF2-40B4-BE49-F238E27FC236}">
                <a16:creationId xmlns:a16="http://schemas.microsoft.com/office/drawing/2014/main" id="{DE17F6AF-7A32-23DB-6E86-AA9CC9FCD1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4" t="3852" r="55274" b="64710"/>
          <a:stretch>
            <a:fillRect/>
          </a:stretch>
        </p:blipFill>
        <p:spPr bwMode="auto">
          <a:xfrm>
            <a:off x="9342301" y="3215609"/>
            <a:ext cx="2512946" cy="1858933"/>
          </a:xfrm>
          <a:prstGeom prst="roundRect">
            <a:avLst>
              <a:gd name="adj" fmla="val 2937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382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375" y="2314575"/>
            <a:ext cx="6953250" cy="1039367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sz="6000" dirty="0">
                <a:effectLst/>
                <a:latin typeface="+mj-lt"/>
                <a:ea typeface="Calibri" panose="020F0502020204030204" pitchFamily="34" charset="0"/>
              </a:rPr>
              <a:t>Desarrollo de la Propuesta y Resultados</a:t>
            </a:r>
            <a:endParaRPr lang="es-CL" sz="6000" dirty="0"/>
          </a:p>
        </p:txBody>
      </p:sp>
    </p:spTree>
    <p:extLst>
      <p:ext uri="{BB962C8B-B14F-4D97-AF65-F5344CB8AC3E}">
        <p14:creationId xmlns:p14="http://schemas.microsoft.com/office/powerpoint/2010/main" val="82269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5F28A-4B10-409F-9309-63553D11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effectLst/>
                <a:latin typeface="+mj-lt"/>
                <a:ea typeface="Calibri" panose="020F0502020204030204" pitchFamily="34" charset="0"/>
              </a:rPr>
              <a:t>Desarrollo de la Propuesta y Resultados</a:t>
            </a:r>
            <a:endParaRPr lang="es-CL" dirty="0">
              <a:latin typeface="+mj-l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E7995-B9A3-4699-8E6D-64DCA6AAC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8995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5F28A-4B10-409F-9309-63553D11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effectLst/>
                <a:latin typeface="+mj-lt"/>
                <a:ea typeface="Calibri" panose="020F0502020204030204" pitchFamily="34" charset="0"/>
              </a:rPr>
              <a:t>Desarrollo de la Propuesta y Resultados</a:t>
            </a:r>
            <a:endParaRPr lang="es-CL" dirty="0">
              <a:latin typeface="+mj-l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E7995-B9A3-4699-8E6D-64DCA6AAC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7789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5F28A-4B10-409F-9309-63553D11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effectLst/>
                <a:latin typeface="+mj-lt"/>
                <a:ea typeface="Calibri" panose="020F0502020204030204" pitchFamily="34" charset="0"/>
              </a:rPr>
              <a:t>Desarrollo de la Propuesta y Resultados</a:t>
            </a:r>
            <a:endParaRPr lang="es-CL" dirty="0">
              <a:latin typeface="+mj-l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E7995-B9A3-4699-8E6D-64DCA6AAC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216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E09-BE11-13AD-592C-AB6E7DC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ED40C-ABAC-AB3B-9B39-5D76F5F3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375" y="2314575"/>
            <a:ext cx="6953250" cy="1039367"/>
          </a:xfrm>
        </p:spPr>
        <p:txBody>
          <a:bodyPr>
            <a:normAutofit fontScale="90000"/>
          </a:bodyPr>
          <a:lstStyle/>
          <a:p>
            <a:pPr algn="ctr"/>
            <a:r>
              <a:rPr lang="es-CL" sz="6000" dirty="0"/>
              <a:t>Conclusiones y trabajos futuros</a:t>
            </a:r>
          </a:p>
        </p:txBody>
      </p:sp>
    </p:spTree>
    <p:extLst>
      <p:ext uri="{BB962C8B-B14F-4D97-AF65-F5344CB8AC3E}">
        <p14:creationId xmlns:p14="http://schemas.microsoft.com/office/powerpoint/2010/main" val="45424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ECD58-F011-A809-7466-6DEE7607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3200" dirty="0"/>
              <a:t>Conclusiones y trabajos futuros</a:t>
            </a:r>
            <a:endParaRPr lang="es-CL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B9D9CF6A-F010-DB02-0FC1-3A62D25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35" y="1277493"/>
            <a:ext cx="9239465" cy="35174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CL" sz="2400" noProof="0" dirty="0"/>
              <a:t> Conclusiones: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noProof="0" dirty="0"/>
              <a:t>Ejemplo de…. Disminución del retraso y dispersión.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de…. </a:t>
            </a:r>
            <a:r>
              <a:rPr lang="es-CL" sz="2000" dirty="0"/>
              <a:t>Garantiza la seguridad.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de…. </a:t>
            </a:r>
            <a:r>
              <a:rPr lang="es-CL" sz="2000" dirty="0"/>
              <a:t>Pruebas realizadas.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noProof="0" dirty="0"/>
              <a:t> Ejemplo de…. Desafíos.</a:t>
            </a:r>
            <a:endParaRPr lang="es-CL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de…. </a:t>
            </a:r>
            <a:r>
              <a:rPr lang="es-CL" sz="2000" dirty="0"/>
              <a:t>Comprensión del Problema.</a:t>
            </a:r>
            <a:endParaRPr lang="es-CL" sz="2000" noProof="0" dirty="0"/>
          </a:p>
        </p:txBody>
      </p:sp>
    </p:spTree>
    <p:extLst>
      <p:ext uri="{BB962C8B-B14F-4D97-AF65-F5344CB8AC3E}">
        <p14:creationId xmlns:p14="http://schemas.microsoft.com/office/powerpoint/2010/main" val="222377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ECD58-F011-A809-7466-6DEE7607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3200" dirty="0"/>
              <a:t>Conclusiones y trabajos futuros</a:t>
            </a:r>
            <a:endParaRPr lang="es-CL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B9D9CF6A-F010-DB02-0FC1-3A62D25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35" y="1277492"/>
            <a:ext cx="9734765" cy="41327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CL" sz="2400" noProof="0" dirty="0"/>
              <a:t> Trabajos futuros: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noProof="0" dirty="0"/>
              <a:t>Ejemplo de….………………………………..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 ….………………………………..</a:t>
            </a:r>
            <a:r>
              <a:rPr lang="es-CL" sz="2000" dirty="0"/>
              <a:t>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 ….………………………………..</a:t>
            </a:r>
            <a:endParaRPr lang="es-CL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noProof="0" dirty="0"/>
              <a:t> Ejemplo de ….………………………………..</a:t>
            </a:r>
            <a:endParaRPr lang="es-CL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s-CL" sz="2000" dirty="0"/>
              <a:t> </a:t>
            </a:r>
            <a:r>
              <a:rPr lang="es-CL" sz="2000" noProof="0" dirty="0"/>
              <a:t>Ejemplo de ….………………………………..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147728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5EC1E6E-563C-4D8F-A66C-1B55835D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215" y="1824858"/>
            <a:ext cx="5896800" cy="1978861"/>
          </a:xfrm>
        </p:spPr>
        <p:txBody>
          <a:bodyPr/>
          <a:lstStyle/>
          <a:p>
            <a:r>
              <a:rPr lang="es-ES_tradnl" sz="2800" dirty="0"/>
              <a:t>TITULO DE LA TESIS….</a:t>
            </a:r>
            <a:endParaRPr lang="es-CL" sz="2800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7EE6AF9-8874-49FE-9033-B78C55C66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215" y="3856390"/>
            <a:ext cx="5896798" cy="713372"/>
          </a:xfrm>
        </p:spPr>
        <p:txBody>
          <a:bodyPr>
            <a:normAutofit/>
          </a:bodyPr>
          <a:lstStyle/>
          <a:p>
            <a:r>
              <a:rPr lang="es-CL" sz="1800" b="0" dirty="0"/>
              <a:t>Alumno: Alex…. ………………….</a:t>
            </a:r>
          </a:p>
          <a:p>
            <a:r>
              <a:rPr lang="es-CL" sz="1800" b="0" dirty="0"/>
              <a:t>Profesor guía: Marco Toranzo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1189D1-454A-C570-662B-ED940BED326A}"/>
              </a:ext>
            </a:extLst>
          </p:cNvPr>
          <p:cNvSpPr/>
          <p:nvPr/>
        </p:nvSpPr>
        <p:spPr>
          <a:xfrm>
            <a:off x="468215" y="4722082"/>
            <a:ext cx="5896798" cy="829631"/>
          </a:xfrm>
          <a:prstGeom prst="rect">
            <a:avLst/>
          </a:prstGeom>
          <a:solidFill>
            <a:srgbClr val="009F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1600" dirty="0">
                <a:solidFill>
                  <a:schemeClr val="bg1"/>
                </a:solidFill>
                <a:ea typeface="Book Antiqua" panose="02040602050305030304" pitchFamily="18" charset="0"/>
                <a:cs typeface="Book Antiqua" panose="02040602050305030304" pitchFamily="18" charset="0"/>
              </a:rPr>
              <a:t>Proyecto de titulo para optar al Titulo Profesional de Ingeniero Ejecución en Computación e Informática</a:t>
            </a:r>
            <a:endParaRPr lang="es-CL" sz="1600" dirty="0">
              <a:solidFill>
                <a:schemeClr val="bg1"/>
              </a:solidFill>
              <a:effectLst/>
              <a:ea typeface="Book Antiqua" panose="02040602050305030304" pitchFamily="18" charset="0"/>
              <a:cs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0650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89A55BF821FEA43B573B8E40F514047" ma:contentTypeVersion="1" ma:contentTypeDescription="Crear nuevo documento." ma:contentTypeScope="" ma:versionID="88654e1362b3e546b8f14eb153b14b0c">
  <xsd:schema xmlns:xsd="http://www.w3.org/2001/XMLSchema" xmlns:xs="http://www.w3.org/2001/XMLSchema" xmlns:p="http://schemas.microsoft.com/office/2006/metadata/properties" xmlns:ns3="abc6821c-9323-40ca-9d3b-9cd6f46aa5af" targetNamespace="http://schemas.microsoft.com/office/2006/metadata/properties" ma:root="true" ma:fieldsID="c0c98574c6b5d21475d811b00778a35c" ns3:_="">
    <xsd:import namespace="abc6821c-9323-40ca-9d3b-9cd6f46aa5a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6821c-9323-40ca-9d3b-9cd6f46aa5a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8A86AF-211C-4199-A7C0-4B1B2A708A9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bc6821c-9323-40ca-9d3b-9cd6f46aa5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BE297D-A923-4796-8EEA-1EEA02EA9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9C4EF-5266-430D-A917-527C2E23254C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1782</TotalTime>
  <Words>1202</Words>
  <Application>Microsoft Office PowerPoint</Application>
  <PresentationFormat>Panorámica</PresentationFormat>
  <Paragraphs>97</Paragraphs>
  <Slides>22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(cuerpo)</vt:lpstr>
      <vt:lpstr>Calibri Light</vt:lpstr>
      <vt:lpstr>Wingdings</vt:lpstr>
      <vt:lpstr>Tema de Office</vt:lpstr>
      <vt:lpstr>TITULO DE LA TESIS….</vt:lpstr>
      <vt:lpstr>Agenda</vt:lpstr>
      <vt:lpstr>Introducción</vt:lpstr>
      <vt:lpstr>Introducción</vt:lpstr>
      <vt:lpstr>Introducción</vt:lpstr>
      <vt:lpstr>Introducción</vt:lpstr>
      <vt:lpstr>Introducción</vt:lpstr>
      <vt:lpstr>Marco Teórico</vt:lpstr>
      <vt:lpstr>Marco Teórico</vt:lpstr>
      <vt:lpstr>Marco Teórico</vt:lpstr>
      <vt:lpstr>Marco Teórico</vt:lpstr>
      <vt:lpstr>Metodología y Propuesta de Solución</vt:lpstr>
      <vt:lpstr>Metodología y Propuesta de Solución</vt:lpstr>
      <vt:lpstr>Metodología y Propuesta de Solución</vt:lpstr>
      <vt:lpstr>Desarrollo de la Propuesta y Resultados</vt:lpstr>
      <vt:lpstr>Desarrollo de la Propuesta y Resultados</vt:lpstr>
      <vt:lpstr>Desarrollo de la Propuesta y Resultados</vt:lpstr>
      <vt:lpstr>Desarrollo de la Propuesta y Resultados</vt:lpstr>
      <vt:lpstr>Conclusiones y trabajos futuros</vt:lpstr>
      <vt:lpstr>Conclusiones y trabajos futuros</vt:lpstr>
      <vt:lpstr>Conclusiones y trabajos futuros</vt:lpstr>
      <vt:lpstr>TITULO DE LA TESIS….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Castro Bustamante</dc:creator>
  <cp:lastModifiedBy>Marco A. Toranzo Cespedes</cp:lastModifiedBy>
  <cp:revision>6</cp:revision>
  <dcterms:created xsi:type="dcterms:W3CDTF">2023-10-04T05:42:33Z</dcterms:created>
  <dcterms:modified xsi:type="dcterms:W3CDTF">2025-10-14T22:45:44Z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0x010100A89A55BF821FEA43B573B8E40F514047</vt:lpwstr>
  </property>
</Properties>
</file>